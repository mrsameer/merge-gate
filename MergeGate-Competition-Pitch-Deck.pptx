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90b2d652147a8" /><Relationship Type="http://schemas.openxmlformats.org/officeDocument/2006/relationships/extended-properties" Target="/docProps/app.xml" Id="R9ebffc305ed1442d" /><Relationship Type="http://schemas.openxmlformats.org/officeDocument/2006/relationships/officeDocument" Target="/ppt/presentation.xml" Id="R3a9bf575765a43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ba114034514cba"/>
  </p:sldMasterIdLst>
  <p:notesMasterIdLst>
    <p:notesMasterId xmlns:r="http://schemas.openxmlformats.org/officeDocument/2006/relationships" r:id="R2719531901b54879"/>
  </p:notesMasterIdLst>
  <p:sldIdLst>
    <p:sldId xmlns:r="http://schemas.openxmlformats.org/officeDocument/2006/relationships" id="256" r:id="Rfd50c5ec9f5441f0"/>
    <p:sldId xmlns:r="http://schemas.openxmlformats.org/officeDocument/2006/relationships" id="257" r:id="Rbcdb451e6edf4cf3"/>
    <p:sldId xmlns:r="http://schemas.openxmlformats.org/officeDocument/2006/relationships" id="258" r:id="R9917eb55473d4733"/>
    <p:sldId xmlns:r="http://schemas.openxmlformats.org/officeDocument/2006/relationships" id="259" r:id="R37c0a16144e34296"/>
    <p:sldId xmlns:r="http://schemas.openxmlformats.org/officeDocument/2006/relationships" id="260" r:id="Rd6f6e64b1e894ec9"/>
    <p:sldId xmlns:r="http://schemas.openxmlformats.org/officeDocument/2006/relationships" id="261" r:id="Re4164245724e442b"/>
    <p:sldId xmlns:r="http://schemas.openxmlformats.org/officeDocument/2006/relationships" id="262" r:id="Ref93a53c5d734920"/>
    <p:sldId xmlns:r="http://schemas.openxmlformats.org/officeDocument/2006/relationships" id="263" r:id="R066d5d0f4c1f4e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1d0447ffbd4879" /><Relationship Type="http://schemas.openxmlformats.org/officeDocument/2006/relationships/slideMaster" Target="/ppt/slideMasters/slideMaster1.xml" Id="R94ba114034514cba" /><Relationship Type="http://schemas.openxmlformats.org/officeDocument/2006/relationships/notesMaster" Target="/ppt/notesMasters/notesMaster1.xml" Id="R2719531901b54879" /><Relationship Type="http://schemas.openxmlformats.org/officeDocument/2006/relationships/presProps" Target="/ppt/presProps.xml" Id="R7fba6a7598a14ac1" /><Relationship Type="http://schemas.openxmlformats.org/officeDocument/2006/relationships/tableStyles" Target="/ppt/tableStyles.xml" Id="R87b8852cef3d4d38" /><Relationship Type="http://schemas.openxmlformats.org/officeDocument/2006/relationships/slide" Target="/ppt/slides/slide1.xml" Id="Rfd50c5ec9f5441f0" /><Relationship Type="http://schemas.openxmlformats.org/officeDocument/2006/relationships/slide" Target="/ppt/slides/slide2.xml" Id="Rbcdb451e6edf4cf3" /><Relationship Type="http://schemas.openxmlformats.org/officeDocument/2006/relationships/slide" Target="/ppt/slides/slide3.xml" Id="R9917eb55473d4733" /><Relationship Type="http://schemas.openxmlformats.org/officeDocument/2006/relationships/slide" Target="/ppt/slides/slide4.xml" Id="R37c0a16144e34296" /><Relationship Type="http://schemas.openxmlformats.org/officeDocument/2006/relationships/slide" Target="/ppt/slides/slide5.xml" Id="Rd6f6e64b1e894ec9" /><Relationship Type="http://schemas.openxmlformats.org/officeDocument/2006/relationships/slide" Target="/ppt/slides/slide6.xml" Id="Re4164245724e442b" /><Relationship Type="http://schemas.openxmlformats.org/officeDocument/2006/relationships/slide" Target="/ppt/slides/slide7.xml" Id="Ref93a53c5d734920" /><Relationship Type="http://schemas.openxmlformats.org/officeDocument/2006/relationships/slide" Target="/ppt/slides/slide8.xml" Id="R066d5d0f4c1f4e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61aaddea7d48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6938600def436c" /><Relationship Type="http://schemas.openxmlformats.org/officeDocument/2006/relationships/notesMaster" Target="/ppt/notesMasters/notesMaster1.xml" Id="R55b78e331c1740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6cc0d1e8804fa2" /><Relationship Type="http://schemas.openxmlformats.org/officeDocument/2006/relationships/notesMaster" Target="/ppt/notesMasters/notesMaster1.xml" Id="R4304662bc3874a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3998e159bd42b7" /><Relationship Type="http://schemas.openxmlformats.org/officeDocument/2006/relationships/notesMaster" Target="/ppt/notesMasters/notesMaster1.xml" Id="R62f36486525245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4cde53ed78427b" /><Relationship Type="http://schemas.openxmlformats.org/officeDocument/2006/relationships/notesMaster" Target="/ppt/notesMasters/notesMaster1.xml" Id="Rb2ba6be1fbff42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5c49344b9a47a5" /><Relationship Type="http://schemas.openxmlformats.org/officeDocument/2006/relationships/notesMaster" Target="/ppt/notesMasters/notesMaster1.xml" Id="R9db94393dd594f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eaf207c24c4417" /><Relationship Type="http://schemas.openxmlformats.org/officeDocument/2006/relationships/notesMaster" Target="/ppt/notesMasters/notesMaster1.xml" Id="Rfe2a87f8d53045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cb3fddba98436f" /><Relationship Type="http://schemas.openxmlformats.org/officeDocument/2006/relationships/notesMaster" Target="/ppt/notesMasters/notesMaster1.xml" Id="Ra07e9f84db3340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93dd4267c24c43" /><Relationship Type="http://schemas.openxmlformats.org/officeDocument/2006/relationships/notesMaster" Target="/ppt/notesMasters/notesMaster1.xml" Id="R85a3b23a84dc45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MergeGate product repository: https://github.com/mrsameer/merge-gate</a:t>
            </a:r>
          </a:p>
          <a:p xmlns:a="http://schemas.openxmlformats.org/drawingml/2006/main">
            <a:r>
              <a:t>- Live deployment: https://merge-gate-beta.vercel.app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positioning based on repository README and recorded demo: https://github.com/mrsameer/merge-gate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Architecture description from https://github.com/mrsameer/merge-gate/blob/main/docs/architecture.md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Recorded walkthrough frame from /docs/demo-videos/01-objective-criteria-workflow.mov</a:t>
            </a:r>
          </a:p>
          <a:p xmlns:a="http://schemas.openxmlformats.org/drawingml/2006/main">
            <a:r>
              <a:t>- Feature behavior documented in https://github.com/mrsameer/merge-gate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Recorded walkthrough frame from /docs/demo-videos/02-retry-evidence-inspection.mov</a:t>
            </a:r>
          </a:p>
          <a:p xmlns:a="http://schemas.openxmlformats.org/drawingml/2006/main">
            <a:r>
              <a:t>- Evidence behavior documented in https://github.com/mrsameer/merge-gate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Recorded walkthrough frame from /docs/demo-videos/02-retry-evidence-inspection.mov</a:t>
            </a:r>
          </a:p>
          <a:p xmlns:a="http://schemas.openxmlformats.org/drawingml/2006/main">
            <a:r>
              <a:t>- Safe-stop behavior documented in https://github.com/mrsameer/merge-gate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deployment: https://merge-gate-beta.vercel.app</a:t>
            </a:r>
          </a:p>
          <a:p xmlns:a="http://schemas.openxmlformats.org/drawingml/2006/main">
            <a:r>
              <a:t>- Product credential and repository flow documented in repository 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deployment: https://merge-gate-beta.vercel.app</a:t>
            </a:r>
          </a:p>
          <a:p xmlns:a="http://schemas.openxmlformats.org/drawingml/2006/main">
            <a:r>
              <a:t>- Source repository: https://github.com/mrsameer/merge-gate</a:t>
            </a:r>
          </a:p>
          <a:p xmlns:a="http://schemas.openxmlformats.org/drawingml/2006/main">
            <a:r>
              <a:t>- Combined video: /docs/demo-videos/MergeGate-Competition-Demo.mp4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7801d463740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8b00bc8237484f" /><Relationship Type="http://schemas.openxmlformats.org/officeDocument/2006/relationships/slideLayout" Target="/ppt/slideLayouts/slideLayout1.xml" Id="R2a5799a5168348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5799a5168348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3bc9819bd40cb" /><Relationship Type="http://schemas.openxmlformats.org/officeDocument/2006/relationships/notesSlide" Target="/ppt/notesSlides/notesSlide1.xml" Id="Rf412086c337744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860d95b734b69" /><Relationship Type="http://schemas.openxmlformats.org/officeDocument/2006/relationships/notesSlide" Target="/ppt/notesSlides/notesSlide2.xml" Id="R4d1be4fa408045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ab99e50b0491c" /><Relationship Type="http://schemas.openxmlformats.org/officeDocument/2006/relationships/notesSlide" Target="/ppt/notesSlides/notesSlide3.xml" Id="Rafe768b8759f4c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622ba080d4222" /><Relationship Type="http://schemas.openxmlformats.org/officeDocument/2006/relationships/image" Target="/ppt/media/image.png" Id="Raf770ab20df94ab4" /><Relationship Type="http://schemas.openxmlformats.org/officeDocument/2006/relationships/notesSlide" Target="/ppt/notesSlides/notesSlide4.xml" Id="R53c507c4f9fd45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7d4cd2eea4c28" /><Relationship Type="http://schemas.openxmlformats.org/officeDocument/2006/relationships/image" Target="/ppt/media/image2.png" Id="Rb653a9c2587c4fb2" /><Relationship Type="http://schemas.openxmlformats.org/officeDocument/2006/relationships/notesSlide" Target="/ppt/notesSlides/notesSlide5.xml" Id="Rd72042dcef624e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fe153e50d4a60" /><Relationship Type="http://schemas.openxmlformats.org/officeDocument/2006/relationships/image" Target="/ppt/media/image3.png" Id="R3cdc93b72e6743b9" /><Relationship Type="http://schemas.openxmlformats.org/officeDocument/2006/relationships/notesSlide" Target="/ppt/notesSlides/notesSlide6.xml" Id="R293760dc39c449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7e065f66b4dc2" /><Relationship Type="http://schemas.openxmlformats.org/officeDocument/2006/relationships/notesSlide" Target="/ppt/notesSlides/notesSlide7.xml" Id="R4465fc26568540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2dfeaa03a46da" /><Relationship Type="http://schemas.openxmlformats.org/officeDocument/2006/relationships/notesSlide" Target="/ppt/notesSlides/notesSlide8.xml" Id="R4d27ce6c950645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90CB1D86-070D-4E2E-A7DA-BCBF329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E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F4CBB38-C410-4870-9F22-D254B739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44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D6A3"/>
                </a:solidFill>
              </a:defRPr>
            </a:pPr>
            <a:r>
              <a:rPr sz="1425" b="1">
                <a:solidFill>
                  <a:srgbClr val="24D6A3"/>
                </a:solidFill>
              </a:rPr>
              <a:t>THE TALENT HACK  •  BUILD SPRINT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A15AEA-F206-41BF-AAD8-64182EE9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723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7FAFF"/>
                </a:solidFill>
              </a:defRPr>
            </a:pPr>
            <a:r>
              <a:rPr sz="5700" b="1">
                <a:solidFill>
                  <a:srgbClr val="F7FAFF"/>
                </a:solidFill>
              </a:rPr>
              <a:t>MERGEGATE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A084C87-3A28-45E7-915D-14553382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600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B8C7DC"/>
                </a:solidFill>
              </a:defRPr>
            </a:pPr>
            <a:r>
              <a:rPr sz="2775" b="1">
                <a:solidFill>
                  <a:srgbClr val="B8C7DC"/>
                </a:solidFill>
              </a:rPr>
              <a:t>Proof-Carrying Autonomy</a:t>
            </a:r>
          </a:p>
          <a:p xmlns:a="http://schemas.openxmlformats.org/drawingml/2006/main">
            <a:pPr>
              <a:defRPr sz="2775" b="1">
                <a:solidFill>
                  <a:srgbClr val="B8C7DC"/>
                </a:solidFill>
              </a:defRPr>
            </a:pPr>
            <a:r>
              <a:rPr sz="2775" b="1">
                <a:solidFill>
                  <a:srgbClr val="B8C7DC"/>
                </a:solidFill>
              </a:rPr>
              <a:t>for AI Coding Agents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85F56201-8176-4FEF-9DCE-0B87FFB3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33875"/>
            <a:ext cx="1285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mise">
            <a:extLst xmlns:a="http://schemas.openxmlformats.org/drawingml/2006/main">
              <a:ext uri="{FF2B5EF4-FFF2-40B4-BE49-F238E27FC236}">
                <a16:creationId xmlns:a16="http://schemas.microsoft.com/office/drawing/2014/main" id="{F2706ECA-1640-45C1-9D76-B04D74FF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F"/>
                </a:solidFill>
              </a:defRPr>
            </a:pPr>
            <a:r>
              <a:rPr sz="2175" b="1">
                <a:solidFill>
                  <a:srgbClr val="F7FAFF"/>
                </a:solidFill>
              </a:rPr>
              <a:t>An agent can propose.</a:t>
            </a:r>
          </a:p>
          <a:p xmlns:a="http://schemas.openxmlformats.org/drawingml/2006/main">
            <a:pPr>
              <a:defRPr sz="2175" b="1">
                <a:solidFill>
                  <a:srgbClr val="F7FAFF"/>
                </a:solidFill>
              </a:defRPr>
            </a:pPr>
            <a:r>
              <a:rPr sz="2175" b="1">
                <a:solidFill>
                  <a:srgbClr val="F7FAFF"/>
                </a:solidFill>
              </a:rPr>
              <a:t>Evidence decides. Humans merge.</a:t>
            </a:r>
          </a:p>
        </p:txBody>
      </p:sp>
      <p:sp>
        <p:nvSpPr>
          <p:cNvPr id="7" name="live-surface">
            <a:extLst xmlns:a="http://schemas.openxmlformats.org/drawingml/2006/main">
              <a:ext uri="{FF2B5EF4-FFF2-40B4-BE49-F238E27FC236}">
                <a16:creationId xmlns:a16="http://schemas.microsoft.com/office/drawing/2014/main" id="{3E1C4322-6E2C-496F-B114-5443A572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33500"/>
            <a:ext cx="329565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19050">
            <a:solidFill>
              <a:srgbClr val="20395D"/>
            </a:solidFill>
            <a:prstDash val="solid"/>
          </a:ln>
        </p:spPr>
      </p:sp>
      <p:sp>
        <p:nvSpPr>
          <p:cNvPr id="8" name="live-label">
            <a:extLst xmlns:a="http://schemas.openxmlformats.org/drawingml/2006/main">
              <a:ext uri="{FF2B5EF4-FFF2-40B4-BE49-F238E27FC236}">
                <a16:creationId xmlns:a16="http://schemas.microsoft.com/office/drawing/2014/main" id="{DE41F060-3BB5-4897-AC08-E7E62A72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D6A3"/>
                </a:solidFill>
              </a:defRPr>
            </a:pPr>
            <a:r>
              <a:rPr sz="1275" b="1">
                <a:solidFill>
                  <a:srgbClr val="24D6A3"/>
                </a:solidFill>
              </a:rPr>
              <a:t>LIVE PRODUCT</a:t>
            </a:r>
          </a:p>
        </p:txBody>
      </p:sp>
      <p:sp>
        <p:nvSpPr>
          <p:cNvPr id="9" name="live-copy">
            <a:extLst xmlns:a="http://schemas.openxmlformats.org/drawingml/2006/main">
              <a:ext uri="{FF2B5EF4-FFF2-40B4-BE49-F238E27FC236}">
                <a16:creationId xmlns:a16="http://schemas.microsoft.com/office/drawing/2014/main" id="{A05B9F8F-0388-4C60-8AB0-C70F3A54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33625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AFF"/>
                </a:solidFill>
              </a:defRPr>
            </a:pPr>
            <a:r>
              <a:rPr sz="2100" b="1">
                <a:solidFill>
                  <a:srgbClr val="F7FAFF"/>
                </a:solidFill>
              </a:rPr>
              <a:t>Visual workflows</a:t>
            </a:r>
          </a:p>
          <a:p xmlns:a="http://schemas.openxmlformats.org/drawingml/2006/main">
            <a:pPr>
              <a:defRPr sz="2100" b="1">
                <a:solidFill>
                  <a:srgbClr val="F7FAFF"/>
                </a:solidFill>
              </a:defRPr>
            </a:pPr>
            <a:r>
              <a:rPr sz="2100" b="1">
                <a:solidFill>
                  <a:srgbClr val="F7FAFF"/>
                </a:solidFill>
              </a:rPr>
              <a:t>Deterministic proof</a:t>
            </a:r>
          </a:p>
          <a:p xmlns:a="http://schemas.openxmlformats.org/drawingml/2006/main">
            <a:pPr>
              <a:defRPr sz="2100" b="1">
                <a:solidFill>
                  <a:srgbClr val="F7FAFF"/>
                </a:solidFill>
              </a:defRPr>
            </a:pPr>
            <a:r>
              <a:rPr sz="2100" b="1">
                <a:solidFill>
                  <a:srgbClr val="F7FAFF"/>
                </a:solidFill>
              </a:rPr>
              <a:t>Human merge gate</a:t>
            </a:r>
          </a:p>
        </p:txBody>
      </p:sp>
      <p:sp>
        <p:nvSpPr>
          <p:cNvPr id="10" name="url">
            <a:extLst xmlns:a="http://schemas.openxmlformats.org/drawingml/2006/main">
              <a:ext uri="{FF2B5EF4-FFF2-40B4-BE49-F238E27FC236}">
                <a16:creationId xmlns:a16="http://schemas.microsoft.com/office/drawing/2014/main" id="{6D613B11-9198-492C-A4B9-1AF1983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7DC"/>
                </a:solidFill>
              </a:defRPr>
            </a:pPr>
            <a:r>
              <a:rPr sz="1200">
                <a:solidFill>
                  <a:srgbClr val="B8C7DC"/>
                </a:solidFill>
              </a:rPr>
              <a:t>merge-gate-beta.vercel.app</a:t>
            </a:r>
          </a:p>
        </p:txBody>
      </p:sp>
    </p:spTree>
    <p:extLst>
      <p:ext uri="{BB962C8B-B14F-4D97-AF65-F5344CB8AC3E}">
        <p14:creationId xmlns:p14="http://schemas.microsoft.com/office/powerpoint/2010/main" val="1525316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ule">
            <a:extLst xmlns:a="http://schemas.openxmlformats.org/drawingml/2006/main">
              <a:ext uri="{FF2B5EF4-FFF2-40B4-BE49-F238E27FC236}">
                <a16:creationId xmlns:a16="http://schemas.microsoft.com/office/drawing/2014/main" id="{6D16D8EE-6BC9-4613-9F69-E35E1049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E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2AF37C6-5514-49FB-B692-CAE6A07E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D6A3"/>
                </a:solidFill>
              </a:defRPr>
            </a:pPr>
            <a:r>
              <a:rPr sz="1275" b="1">
                <a:solidFill>
                  <a:srgbClr val="24D6A3"/>
                </a:solidFill>
              </a:rPr>
              <a:t>THE TRUST GAP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346FF543-6D3B-4089-A504-F0209D8F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690B6"/>
                </a:solidFill>
              </a:defRPr>
            </a:pPr>
            <a:r>
              <a:rPr sz="1350" b="1">
                <a:solidFill>
                  <a:srgbClr val="7690B6"/>
                </a:solidFill>
              </a:rPr>
              <a:t>02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E6781D0-EF7F-4182-89E5-1FF84637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90B6"/>
                </a:solidFill>
              </a:defRPr>
            </a:pPr>
            <a:r>
              <a:rPr sz="900" b="1">
                <a:solidFill>
                  <a:srgbClr val="7690B6"/>
                </a:solidFill>
              </a:rPr>
              <a:t>MERGEGATE  •  PROOF-CARRYING AUTONOMY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3FE0702-11E6-4F64-B0D9-EE8E5181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AFF"/>
                </a:solidFill>
              </a:defRPr>
            </a:pPr>
            <a:r>
              <a:rPr sz="4050" b="1">
                <a:solidFill>
                  <a:srgbClr val="F7FAFF"/>
                </a:solidFill>
              </a:rPr>
              <a:t>AI coding is fast.</a:t>
            </a:r>
          </a:p>
          <a:p xmlns:a="http://schemas.openxmlformats.org/drawingml/2006/main">
            <a:pPr>
              <a:defRPr sz="4050" b="1">
                <a:solidFill>
                  <a:srgbClr val="F7FAFF"/>
                </a:solidFill>
              </a:defRPr>
            </a:pPr>
            <a:r>
              <a:rPr sz="4050" b="1">
                <a:solidFill>
                  <a:srgbClr val="F7FAFF"/>
                </a:solidFill>
              </a:rPr>
              <a:t>Trust is the bottleneck.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CC7DD1C2-16C3-474A-9BA3-6B43F34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C"/>
                </a:solidFill>
              </a:defRPr>
            </a:pPr>
            <a:r>
              <a:rPr sz="1800">
                <a:solidFill>
                  <a:srgbClr val="B8C7DC"/>
                </a:solidFill>
              </a:rPr>
              <a:t>A confident agent message does not answer the questions a reviewer needs to ask.</a:t>
            </a:r>
          </a:p>
        </p:txBody>
      </p:sp>
      <p:sp>
        <p:nvSpPr>
          <p:cNvPr id="7" name="dot-388">
            <a:extLst xmlns:a="http://schemas.openxmlformats.org/drawingml/2006/main">
              <a:ext uri="{FF2B5EF4-FFF2-40B4-BE49-F238E27FC236}">
                <a16:creationId xmlns:a16="http://schemas.microsoft.com/office/drawing/2014/main" id="{718F51B3-74AE-492C-A794-E8B8E032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6A3"/>
          </a:solidFill>
          <a:ln xmlns:a="http://schemas.openxmlformats.org/drawingml/2006/main" w="0">
            <a:solidFill>
              <a:srgbClr val="24D6A3"/>
            </a:solidFill>
            <a:prstDash val="solid"/>
          </a:ln>
        </p:spPr>
      </p:sp>
      <p:sp>
        <p:nvSpPr>
          <p:cNvPr id="8" name="bullet-head-388">
            <a:extLst xmlns:a="http://schemas.openxmlformats.org/drawingml/2006/main">
              <a:ext uri="{FF2B5EF4-FFF2-40B4-BE49-F238E27FC236}">
                <a16:creationId xmlns:a16="http://schemas.microsoft.com/office/drawing/2014/main" id="{EF05F05C-D8A6-4962-9CEC-5BB18785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What changed?</a:t>
            </a:r>
          </a:p>
        </p:txBody>
      </p:sp>
      <p:sp>
        <p:nvSpPr>
          <p:cNvPr id="9" name="bullet-body-388">
            <a:extLst xmlns:a="http://schemas.openxmlformats.org/drawingml/2006/main">
              <a:ext uri="{FF2B5EF4-FFF2-40B4-BE49-F238E27FC236}">
                <a16:creationId xmlns:a16="http://schemas.microsoft.com/office/drawing/2014/main" id="{D7A427B9-10C6-4535-8B54-37F89BA2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433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C"/>
                </a:solidFill>
              </a:defRPr>
            </a:pPr>
            <a:r>
              <a:rPr sz="1350">
                <a:solidFill>
                  <a:srgbClr val="B8C7DC"/>
                </a:solidFill>
              </a:rPr>
              <a:t>Inspect the diff, commands, workspace, and exact evidence.</a:t>
            </a:r>
          </a:p>
        </p:txBody>
      </p:sp>
      <p:sp>
        <p:nvSpPr>
          <p:cNvPr id="10" name="dot-496">
            <a:extLst xmlns:a="http://schemas.openxmlformats.org/drawingml/2006/main">
              <a:ext uri="{FF2B5EF4-FFF2-40B4-BE49-F238E27FC236}">
                <a16:creationId xmlns:a16="http://schemas.microsoft.com/office/drawing/2014/main" id="{97ACB449-0598-44AE-8E0D-D599EF5F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8FF"/>
          </a:solidFill>
          <a:ln xmlns:a="http://schemas.openxmlformats.org/drawingml/2006/main" w="0">
            <a:solidFill>
              <a:srgbClr val="78A8FF"/>
            </a:solidFill>
            <a:prstDash val="solid"/>
          </a:ln>
        </p:spPr>
      </p:sp>
      <p:sp>
        <p:nvSpPr>
          <p:cNvPr id="11" name="bullet-head-496">
            <a:extLst xmlns:a="http://schemas.openxmlformats.org/drawingml/2006/main">
              <a:ext uri="{FF2B5EF4-FFF2-40B4-BE49-F238E27FC236}">
                <a16:creationId xmlns:a16="http://schemas.microsoft.com/office/drawing/2014/main" id="{840E9838-DAD9-42A7-B54B-F82D6FD7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Did it actually pass?</a:t>
            </a:r>
          </a:p>
        </p:txBody>
      </p:sp>
      <p:sp>
        <p:nvSpPr>
          <p:cNvPr id="12" name="bullet-body-496">
            <a:extLst xmlns:a="http://schemas.openxmlformats.org/drawingml/2006/main">
              <a:ext uri="{FF2B5EF4-FFF2-40B4-BE49-F238E27FC236}">
                <a16:creationId xmlns:a16="http://schemas.microsoft.com/office/drawing/2014/main" id="{B5146F96-160E-4308-88C9-F0B9D119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433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C"/>
                </a:solidFill>
              </a:defRPr>
            </a:pPr>
            <a:r>
              <a:rPr sz="1350">
                <a:solidFill>
                  <a:srgbClr val="B8C7DC"/>
                </a:solidFill>
              </a:rPr>
              <a:t>A separate deterministic validator decides—not the agent.</a:t>
            </a:r>
          </a:p>
        </p:txBody>
      </p:sp>
      <p:sp>
        <p:nvSpPr>
          <p:cNvPr id="13" name="dot-604">
            <a:extLst xmlns:a="http://schemas.openxmlformats.org/drawingml/2006/main">
              <a:ext uri="{FF2B5EF4-FFF2-40B4-BE49-F238E27FC236}">
                <a16:creationId xmlns:a16="http://schemas.microsoft.com/office/drawing/2014/main" id="{93F1EA09-B237-4CA6-A2BD-71C6F89B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C8E"/>
          </a:solidFill>
          <a:ln xmlns:a="http://schemas.openxmlformats.org/drawingml/2006/main" w="0">
            <a:solidFill>
              <a:srgbClr val="FF7C8E"/>
            </a:solidFill>
            <a:prstDash val="solid"/>
          </a:ln>
        </p:spPr>
      </p:sp>
      <p:sp>
        <p:nvSpPr>
          <p:cNvPr id="14" name="bullet-head-604">
            <a:extLst xmlns:a="http://schemas.openxmlformats.org/drawingml/2006/main">
              <a:ext uri="{FF2B5EF4-FFF2-40B4-BE49-F238E27FC236}">
                <a16:creationId xmlns:a16="http://schemas.microsoft.com/office/drawing/2014/main" id="{667515B5-493D-499E-A459-A09D5E9C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Can we replay the claim?</a:t>
            </a:r>
          </a:p>
        </p:txBody>
      </p:sp>
      <p:sp>
        <p:nvSpPr>
          <p:cNvPr id="15" name="bullet-body-604">
            <a:extLst xmlns:a="http://schemas.openxmlformats.org/drawingml/2006/main">
              <a:ext uri="{FF2B5EF4-FFF2-40B4-BE49-F238E27FC236}">
                <a16:creationId xmlns:a16="http://schemas.microsoft.com/office/drawing/2014/main" id="{F3CE132A-36DC-491F-A755-AA6C6AE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15050"/>
            <a:ext cx="433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C"/>
                </a:solidFill>
              </a:defRPr>
            </a:pPr>
            <a:r>
              <a:rPr sz="1350">
                <a:solidFill>
                  <a:srgbClr val="B8C7DC"/>
                </a:solidFill>
              </a:rPr>
              <a:t>The durable ledger makes the decision inspectable.</a:t>
            </a:r>
          </a:p>
        </p:txBody>
      </p:sp>
      <p:sp>
        <p:nvSpPr>
          <p:cNvPr id="16" name="quote-surface">
            <a:extLst xmlns:a="http://schemas.openxmlformats.org/drawingml/2006/main">
              <a:ext uri="{FF2B5EF4-FFF2-40B4-BE49-F238E27FC236}">
                <a16:creationId xmlns:a16="http://schemas.microsoft.com/office/drawing/2014/main" id="{7A96CCB7-CBAF-48B3-B773-F9EB52C9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09700"/>
            <a:ext cx="394335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19050">
            <a:solidFill>
              <a:srgbClr val="20395D"/>
            </a:solidFill>
            <a:prstDash val="solid"/>
          </a:ln>
        </p:spPr>
      </p:sp>
      <p:sp>
        <p:nvSpPr>
          <p:cNvPr id="17" name="quote">
            <a:extLst xmlns:a="http://schemas.openxmlformats.org/drawingml/2006/main">
              <a:ext uri="{FF2B5EF4-FFF2-40B4-BE49-F238E27FC236}">
                <a16:creationId xmlns:a16="http://schemas.microsoft.com/office/drawing/2014/main" id="{4BCA7CB3-68F3-480D-9DA8-0BC6F827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AFF"/>
                </a:solidFill>
              </a:defRPr>
            </a:pPr>
            <a:r>
              <a:rPr sz="2775" b="1">
                <a:solidFill>
                  <a:srgbClr val="F7FAFF"/>
                </a:solidFill>
              </a:rPr>
              <a:t>“The agent said it worked.”</a:t>
            </a:r>
          </a:p>
        </p:txBody>
      </p:sp>
      <p:sp>
        <p:nvSpPr>
          <p:cNvPr id="18" name="quote-line">
            <a:extLst xmlns:a="http://schemas.openxmlformats.org/drawingml/2006/main">
              <a:ext uri="{FF2B5EF4-FFF2-40B4-BE49-F238E27FC236}">
                <a16:creationId xmlns:a16="http://schemas.microsoft.com/office/drawing/2014/main" id="{2F063A90-F99D-4526-AC87-A00D3590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1238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quote-answer">
            <a:extLst xmlns:a="http://schemas.openxmlformats.org/drawingml/2006/main">
              <a:ext uri="{FF2B5EF4-FFF2-40B4-BE49-F238E27FC236}">
                <a16:creationId xmlns:a16="http://schemas.microsoft.com/office/drawing/2014/main" id="{2468C438-7F04-41D3-A61A-3984AD98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623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C"/>
                </a:solidFill>
              </a:defRPr>
            </a:pPr>
            <a:r>
              <a:rPr sz="1650">
                <a:solidFill>
                  <a:srgbClr val="B8C7DC"/>
                </a:solidFill>
              </a:rPr>
              <a:t>MergeGate replaces that claim with a reviewable proof trail.</a:t>
            </a:r>
          </a:p>
        </p:txBody>
      </p:sp>
    </p:spTree>
    <p:extLst>
      <p:ext uri="{BB962C8B-B14F-4D97-AF65-F5344CB8AC3E}">
        <p14:creationId xmlns:p14="http://schemas.microsoft.com/office/powerpoint/2010/main" val="1636635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rule">
            <a:extLst xmlns:a="http://schemas.openxmlformats.org/drawingml/2006/main">
              <a:ext uri="{FF2B5EF4-FFF2-40B4-BE49-F238E27FC236}">
                <a16:creationId xmlns:a16="http://schemas.microsoft.com/office/drawing/2014/main" id="{4D267F99-862B-48F6-87AD-478C77C2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E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218F573-530C-4E69-AD8E-E2B2A96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D6A3"/>
                </a:solidFill>
              </a:defRPr>
            </a:pPr>
            <a:r>
              <a:rPr sz="1275" b="1">
                <a:solidFill>
                  <a:srgbClr val="24D6A3"/>
                </a:solidFill>
              </a:rPr>
              <a:t>THE CONTROL PLANE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D5F48DB5-6E4E-40FC-BA15-7E101451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690B6"/>
                </a:solidFill>
              </a:defRPr>
            </a:pPr>
            <a:r>
              <a:rPr sz="1350" b="1">
                <a:solidFill>
                  <a:srgbClr val="7690B6"/>
                </a:solidFill>
              </a:rPr>
              <a:t>03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847E4C5-BD43-4819-9CBC-D26B0BBD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90B6"/>
                </a:solidFill>
              </a:defRPr>
            </a:pPr>
            <a:r>
              <a:rPr sz="900" b="1">
                <a:solidFill>
                  <a:srgbClr val="7690B6"/>
                </a:solidFill>
              </a:rPr>
              <a:t>MERGEGATE  •  PROOF-CARRYING AUTONOMY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37EF908-629B-4DE4-B87D-BF656C13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F"/>
                </a:solidFill>
              </a:defRPr>
            </a:pPr>
            <a:r>
              <a:rPr sz="3600" b="1">
                <a:solidFill>
                  <a:srgbClr val="F7FAFF"/>
                </a:solidFill>
              </a:rPr>
              <a:t>Proof sits between generation and merge.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85ACABA-5378-4413-B811-D23E9063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C"/>
                </a:solidFill>
              </a:defRPr>
            </a:pPr>
            <a:r>
              <a:rPr sz="1800">
                <a:solidFill>
                  <a:srgbClr val="B8C7DC"/>
                </a:solidFill>
              </a:rPr>
              <a:t>A coding harness may propose changes—but it never chooses the verdict.</a:t>
            </a:r>
          </a:p>
        </p:txBody>
      </p:sp>
      <p:sp>
        <p:nvSpPr>
          <p:cNvPr id="7" name="connector-0">
            <a:extLst xmlns:a="http://schemas.openxmlformats.org/drawingml/2006/main">
              <a:ext uri="{FF2B5EF4-FFF2-40B4-BE49-F238E27FC236}">
                <a16:creationId xmlns:a16="http://schemas.microsoft.com/office/drawing/2014/main" id="{A28F900F-3E97-4AB1-875C-2E8B9B06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00500"/>
            <a:ext cx="695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0">
            <a:extLst xmlns:a="http://schemas.openxmlformats.org/drawingml/2006/main">
              <a:ext uri="{FF2B5EF4-FFF2-40B4-BE49-F238E27FC236}">
                <a16:creationId xmlns:a16="http://schemas.microsoft.com/office/drawing/2014/main" id="{DAA5BA01-2BBC-4308-B1A4-13DA5CE2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095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19050">
            <a:solidFill>
              <a:srgbClr val="20395D"/>
            </a:solidFill>
            <a:prstDash val="solid"/>
          </a:ln>
        </p:spPr>
      </p:sp>
      <p:sp>
        <p:nvSpPr>
          <p:cNvPr id="9" name="step-num-0">
            <a:extLst xmlns:a="http://schemas.openxmlformats.org/drawingml/2006/main">
              <a:ext uri="{FF2B5EF4-FFF2-40B4-BE49-F238E27FC236}">
                <a16:creationId xmlns:a16="http://schemas.microsoft.com/office/drawing/2014/main" id="{503DD457-13EA-4229-A42D-433D9A10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81BA9B69-0FAE-4710-9854-1DB17583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0D1C"/>
                </a:solidFill>
              </a:defRPr>
            </a:pPr>
            <a:r>
              <a:rPr sz="1500" b="1">
                <a:solidFill>
                  <a:srgbClr val="080D1C"/>
                </a:solidFill>
              </a:rPr>
              <a:t>1</a:t>
            </a:r>
          </a:p>
        </p:txBody>
      </p:sp>
      <p:sp>
        <p:nvSpPr>
          <p:cNvPr id="11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A593120F-C8FB-4F26-9F7F-FBC4182F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57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</a:defRPr>
            </a:pPr>
            <a:r>
              <a:rPr sz="1875" b="1">
                <a:solidFill>
                  <a:srgbClr val="F7FAFF"/>
                </a:solidFill>
              </a:rPr>
              <a:t>Freeze criteria</a:t>
            </a:r>
          </a:p>
        </p:txBody>
      </p:sp>
      <p:sp>
        <p:nvSpPr>
          <p:cNvPr id="12" name="step-body-0">
            <a:extLst xmlns:a="http://schemas.openxmlformats.org/drawingml/2006/main">
              <a:ext uri="{FF2B5EF4-FFF2-40B4-BE49-F238E27FC236}">
                <a16:creationId xmlns:a16="http://schemas.microsoft.com/office/drawing/2014/main" id="{E97F799D-E3C3-47F8-8515-DB750EF8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C"/>
                </a:solidFill>
              </a:defRPr>
            </a:pPr>
            <a:r>
              <a:rPr sz="1275">
                <a:solidFill>
                  <a:srgbClr val="B8C7DC"/>
                </a:solidFill>
              </a:rPr>
              <a:t>Human-approved contract</a:t>
            </a:r>
          </a:p>
        </p:txBody>
      </p:sp>
      <p:sp>
        <p:nvSpPr>
          <p:cNvPr id="13" name="connector-1">
            <a:extLst xmlns:a="http://schemas.openxmlformats.org/drawingml/2006/main">
              <a:ext uri="{FF2B5EF4-FFF2-40B4-BE49-F238E27FC236}">
                <a16:creationId xmlns:a16="http://schemas.microsoft.com/office/drawing/2014/main" id="{E43230B8-FB31-4868-93BE-512287A8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000500"/>
            <a:ext cx="695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1">
            <a:extLst xmlns:a="http://schemas.openxmlformats.org/drawingml/2006/main">
              <a:ext uri="{FF2B5EF4-FFF2-40B4-BE49-F238E27FC236}">
                <a16:creationId xmlns:a16="http://schemas.microsoft.com/office/drawing/2014/main" id="{1B4318FF-6E4E-4801-BEFD-26BC0B4C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095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19050">
            <a:solidFill>
              <a:srgbClr val="20395D"/>
            </a:solidFill>
            <a:prstDash val="solid"/>
          </a:ln>
        </p:spPr>
      </p:sp>
      <p:sp>
        <p:nvSpPr>
          <p:cNvPr id="15" name="step-num-1">
            <a:extLst xmlns:a="http://schemas.openxmlformats.org/drawingml/2006/main">
              <a:ext uri="{FF2B5EF4-FFF2-40B4-BE49-F238E27FC236}">
                <a16:creationId xmlns:a16="http://schemas.microsoft.com/office/drawing/2014/main" id="{C25A91DE-6524-432C-913D-ADE544E0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39E6FDF0-693A-4108-9B76-43360BA8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00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0D1C"/>
                </a:solidFill>
              </a:defRPr>
            </a:pPr>
            <a:r>
              <a:rPr sz="1500" b="1">
                <a:solidFill>
                  <a:srgbClr val="080D1C"/>
                </a:solidFill>
              </a:rPr>
              <a:t>2</a:t>
            </a:r>
          </a:p>
        </p:txBody>
      </p:sp>
      <p:sp>
        <p:nvSpPr>
          <p:cNvPr id="1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508CA04B-401C-4693-9D7A-79F8F2D2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943350"/>
            <a:ext cx="157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</a:defRPr>
            </a:pPr>
            <a:r>
              <a:rPr sz="1875" b="1">
                <a:solidFill>
                  <a:srgbClr val="F7FAFF"/>
                </a:solidFill>
              </a:rPr>
              <a:t>Run agent</a:t>
            </a:r>
          </a:p>
        </p:txBody>
      </p:sp>
      <p:sp>
        <p:nvSpPr>
          <p:cNvPr id="1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60B797CC-EBA5-419E-AEA0-F014CA0D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52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C"/>
                </a:solidFill>
              </a:defRPr>
            </a:pPr>
            <a:r>
              <a:rPr sz="1275">
                <a:solidFill>
                  <a:srgbClr val="B8C7DC"/>
                </a:solidFill>
              </a:rPr>
              <a:t>Isolated Git worktree</a:t>
            </a:r>
          </a:p>
        </p:txBody>
      </p:sp>
      <p:sp>
        <p:nvSpPr>
          <p:cNvPr id="19" name="connector-2">
            <a:extLst xmlns:a="http://schemas.openxmlformats.org/drawingml/2006/main">
              <a:ext uri="{FF2B5EF4-FFF2-40B4-BE49-F238E27FC236}">
                <a16:creationId xmlns:a16="http://schemas.microsoft.com/office/drawing/2014/main" id="{C2FA2785-C88F-441B-9205-FBA0A5E0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695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2">
            <a:extLst xmlns:a="http://schemas.openxmlformats.org/drawingml/2006/main">
              <a:ext uri="{FF2B5EF4-FFF2-40B4-BE49-F238E27FC236}">
                <a16:creationId xmlns:a16="http://schemas.microsoft.com/office/drawing/2014/main" id="{EAD5A2A1-B3F6-4238-991B-6A0395C1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2095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19050">
            <a:solidFill>
              <a:srgbClr val="20395D"/>
            </a:solidFill>
            <a:prstDash val="solid"/>
          </a:ln>
        </p:spPr>
      </p:sp>
      <p:sp>
        <p:nvSpPr>
          <p:cNvPr id="21" name="step-num-2">
            <a:extLst xmlns:a="http://schemas.openxmlformats.org/drawingml/2006/main">
              <a:ext uri="{FF2B5EF4-FFF2-40B4-BE49-F238E27FC236}">
                <a16:creationId xmlns:a16="http://schemas.microsoft.com/office/drawing/2014/main" id="{460A4135-4C39-4ECA-9B53-4D8D1E80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AED1D2F-9EAA-414A-874B-EFD5E02B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0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0D1C"/>
                </a:solidFill>
              </a:defRPr>
            </a:pPr>
            <a:r>
              <a:rPr sz="1500" b="1">
                <a:solidFill>
                  <a:srgbClr val="080D1C"/>
                </a:solidFill>
              </a:rPr>
              <a:t>3</a:t>
            </a:r>
          </a:p>
        </p:txBody>
      </p:sp>
      <p:sp>
        <p:nvSpPr>
          <p:cNvPr id="23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86C49FA0-CD5F-47F6-82DE-32B4128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157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</a:defRPr>
            </a:pPr>
            <a:r>
              <a:rPr sz="1875" b="1">
                <a:solidFill>
                  <a:srgbClr val="F7FAFF"/>
                </a:solidFill>
              </a:rPr>
              <a:t>Validate</a:t>
            </a:r>
          </a:p>
        </p:txBody>
      </p:sp>
      <p:sp>
        <p:nvSpPr>
          <p:cNvPr id="24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D07AAAA-B9A5-4441-8A84-8BC8280F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C"/>
                </a:solidFill>
              </a:defRPr>
            </a:pPr>
            <a:r>
              <a:rPr sz="1275">
                <a:solidFill>
                  <a:srgbClr val="B8C7DC"/>
                </a:solidFill>
              </a:rPr>
              <a:t>LLM-free commands &amp; policy</a:t>
            </a:r>
          </a:p>
        </p:txBody>
      </p:sp>
      <p:sp>
        <p:nvSpPr>
          <p:cNvPr id="25" name="step-3">
            <a:extLst xmlns:a="http://schemas.openxmlformats.org/drawingml/2006/main">
              <a:ext uri="{FF2B5EF4-FFF2-40B4-BE49-F238E27FC236}">
                <a16:creationId xmlns:a16="http://schemas.microsoft.com/office/drawing/2014/main" id="{6FF905B3-EED2-433E-BBB7-B1FC580D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48000"/>
            <a:ext cx="20955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19050">
            <a:solidFill>
              <a:srgbClr val="20395D"/>
            </a:solidFill>
            <a:prstDash val="solid"/>
          </a:ln>
        </p:spPr>
      </p:sp>
      <p:sp>
        <p:nvSpPr>
          <p:cNvPr id="26" name="step-num-3">
            <a:extLst xmlns:a="http://schemas.openxmlformats.org/drawingml/2006/main">
              <a:ext uri="{FF2B5EF4-FFF2-40B4-BE49-F238E27FC236}">
                <a16:creationId xmlns:a16="http://schemas.microsoft.com/office/drawing/2014/main" id="{B369BEED-2EB0-40A2-83FC-4514FCFA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997EBB06-FF6E-4070-9D13-C4975CA1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004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0D1C"/>
                </a:solidFill>
              </a:defRPr>
            </a:pPr>
            <a:r>
              <a:rPr sz="1500" b="1">
                <a:solidFill>
                  <a:srgbClr val="080D1C"/>
                </a:solidFill>
              </a:rPr>
              <a:t>4</a:t>
            </a:r>
          </a:p>
        </p:txBody>
      </p:sp>
      <p:sp>
        <p:nvSpPr>
          <p:cNvPr id="2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24B7D090-2C2D-4DC2-A12C-3750678E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943350"/>
            <a:ext cx="1571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</a:defRPr>
            </a:pPr>
            <a:r>
              <a:rPr sz="1875" b="1">
                <a:solidFill>
                  <a:srgbClr val="F7FAFF"/>
                </a:solidFill>
              </a:rPr>
              <a:t>Merge gate</a:t>
            </a:r>
          </a:p>
        </p:txBody>
      </p:sp>
      <p:sp>
        <p:nvSpPr>
          <p:cNvPr id="2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5833B82-3B0A-4F94-B68B-AA887BB2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552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C"/>
                </a:solidFill>
              </a:defRPr>
            </a:pPr>
            <a:r>
              <a:rPr sz="1275">
                <a:solidFill>
                  <a:srgbClr val="B8C7DC"/>
                </a:solidFill>
              </a:rPr>
              <a:t>Human decides</a:t>
            </a:r>
          </a:p>
        </p:txBody>
      </p:sp>
    </p:spTree>
    <p:extLst>
      <p:ext uri="{BB962C8B-B14F-4D97-AF65-F5344CB8AC3E}">
        <p14:creationId xmlns:p14="http://schemas.microsoft.com/office/powerpoint/2010/main" val="597083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ule">
            <a:extLst xmlns:a="http://schemas.openxmlformats.org/drawingml/2006/main">
              <a:ext uri="{FF2B5EF4-FFF2-40B4-BE49-F238E27FC236}">
                <a16:creationId xmlns:a16="http://schemas.microsoft.com/office/drawing/2014/main" id="{EFD22284-0E64-4E0A-9CF1-50364ECD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E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FE4AFCF-1F21-416D-8324-1486125A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D6A3"/>
                </a:solidFill>
              </a:defRPr>
            </a:pPr>
            <a:r>
              <a:rPr sz="1275" b="1">
                <a:solidFill>
                  <a:srgbClr val="24D6A3"/>
                </a:solidFill>
              </a:rPr>
              <a:t>CONTRACT BEFORE CODE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6C493239-112E-44B0-9EE3-DCC9BDB8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690B6"/>
                </a:solidFill>
              </a:defRPr>
            </a:pPr>
            <a:r>
              <a:rPr sz="1350" b="1">
                <a:solidFill>
                  <a:srgbClr val="7690B6"/>
                </a:solidFill>
              </a:rPr>
              <a:t>04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2A23225-A5E7-492A-80C9-D9D32C33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90B6"/>
                </a:solidFill>
              </a:defRPr>
            </a:pPr>
            <a:r>
              <a:rPr sz="900" b="1">
                <a:solidFill>
                  <a:srgbClr val="7690B6"/>
                </a:solidFill>
              </a:rPr>
              <a:t>MERGEGATE  •  PROOF-CARRYING AUTONOMY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F0552F1-E532-4C0D-8565-B5B3BFC1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7FAFF"/>
                </a:solidFill>
              </a:defRPr>
            </a:pPr>
            <a:r>
              <a:rPr sz="3225" b="1">
                <a:solidFill>
                  <a:srgbClr val="F7FAFF"/>
                </a:solidFill>
              </a:rPr>
              <a:t>Success criteria become a</a:t>
            </a:r>
          </a:p>
          <a:p xmlns:a="http://schemas.openxmlformats.org/drawingml/2006/main">
            <a:pPr>
              <a:defRPr sz="3225" b="1">
                <a:solidFill>
                  <a:srgbClr val="F7FAFF"/>
                </a:solidFill>
              </a:defRPr>
            </a:pPr>
            <a:r>
              <a:rPr sz="3225" b="1">
                <a:solidFill>
                  <a:srgbClr val="F7FAFF"/>
                </a:solidFill>
              </a:rPr>
              <a:t>frozen contract.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0E6EB86-112B-4109-88C3-5EE0A35F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C"/>
                </a:solidFill>
              </a:defRPr>
            </a:pPr>
            <a:r>
              <a:rPr sz="1650">
                <a:solidFill>
                  <a:srgbClr val="B8C7DC"/>
                </a:solidFill>
              </a:rPr>
              <a:t>The team defines the objective, reviews generated criteria, and approves them before a coding provider can run.</a:t>
            </a:r>
          </a:p>
        </p:txBody>
      </p:sp>
      <p:sp>
        <p:nvSpPr>
          <p:cNvPr id="7" name="dot-372">
            <a:extLst xmlns:a="http://schemas.openxmlformats.org/drawingml/2006/main">
              <a:ext uri="{FF2B5EF4-FFF2-40B4-BE49-F238E27FC236}">
                <a16:creationId xmlns:a16="http://schemas.microsoft.com/office/drawing/2014/main" id="{722F2490-9CE2-4791-9651-85263EDF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6A3"/>
          </a:solidFill>
          <a:ln xmlns:a="http://schemas.openxmlformats.org/drawingml/2006/main" w="0">
            <a:solidFill>
              <a:srgbClr val="24D6A3"/>
            </a:solidFill>
            <a:prstDash val="solid"/>
          </a:ln>
        </p:spPr>
      </p:sp>
      <p:sp>
        <p:nvSpPr>
          <p:cNvPr id="8" name="bullet-head-372">
            <a:extLst xmlns:a="http://schemas.openxmlformats.org/drawingml/2006/main">
              <a:ext uri="{FF2B5EF4-FFF2-40B4-BE49-F238E27FC236}">
                <a16:creationId xmlns:a16="http://schemas.microsoft.com/office/drawing/2014/main" id="{FF426183-44A0-48F1-832A-11AA1C00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Reusable workflow</a:t>
            </a:r>
          </a:p>
        </p:txBody>
      </p:sp>
      <p:sp>
        <p:nvSpPr>
          <p:cNvPr id="9" name="bullet-body-372">
            <a:extLst xmlns:a="http://schemas.openxmlformats.org/drawingml/2006/main">
              <a:ext uri="{FF2B5EF4-FFF2-40B4-BE49-F238E27FC236}">
                <a16:creationId xmlns:a16="http://schemas.microsoft.com/office/drawing/2014/main" id="{F5222FF8-563A-4E39-A2D9-9CAEF78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33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C"/>
                </a:solidFill>
              </a:defRPr>
            </a:pPr>
            <a:r>
              <a:rPr sz="1350">
                <a:solidFill>
                  <a:srgbClr val="B8C7DC"/>
                </a:solidFill>
              </a:rPr>
              <a:t>Save or export the visual control flow.</a:t>
            </a:r>
          </a:p>
        </p:txBody>
      </p:sp>
      <p:sp>
        <p:nvSpPr>
          <p:cNvPr id="10" name="dot-478">
            <a:extLst xmlns:a="http://schemas.openxmlformats.org/drawingml/2006/main">
              <a:ext uri="{FF2B5EF4-FFF2-40B4-BE49-F238E27FC236}">
                <a16:creationId xmlns:a16="http://schemas.microsoft.com/office/drawing/2014/main" id="{45267C17-9272-4010-AA85-9EF38131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8FF"/>
          </a:solidFill>
          <a:ln xmlns:a="http://schemas.openxmlformats.org/drawingml/2006/main" w="0">
            <a:solidFill>
              <a:srgbClr val="78A8FF"/>
            </a:solidFill>
            <a:prstDash val="solid"/>
          </a:ln>
        </p:spPr>
      </p:sp>
      <p:sp>
        <p:nvSpPr>
          <p:cNvPr id="11" name="bullet-head-478">
            <a:extLst xmlns:a="http://schemas.openxmlformats.org/drawingml/2006/main">
              <a:ext uri="{FF2B5EF4-FFF2-40B4-BE49-F238E27FC236}">
                <a16:creationId xmlns:a16="http://schemas.microsoft.com/office/drawing/2014/main" id="{9DA3DBF7-FB23-46AD-8D64-64BE5029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Explicit approval</a:t>
            </a:r>
          </a:p>
        </p:txBody>
      </p:sp>
      <p:sp>
        <p:nvSpPr>
          <p:cNvPr id="12" name="bullet-body-478">
            <a:extLst xmlns:a="http://schemas.openxmlformats.org/drawingml/2006/main">
              <a:ext uri="{FF2B5EF4-FFF2-40B4-BE49-F238E27FC236}">
                <a16:creationId xmlns:a16="http://schemas.microsoft.com/office/drawing/2014/main" id="{E93EC763-59FB-4BAC-8A71-ABB8193D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433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C"/>
                </a:solidFill>
              </a:defRPr>
            </a:pPr>
            <a:r>
              <a:rPr sz="1350">
                <a:solidFill>
                  <a:srgbClr val="B8C7DC"/>
                </a:solidFill>
              </a:rPr>
              <a:t>Criteria are editable until the contract is frozen.</a:t>
            </a:r>
          </a:p>
        </p:txBody>
      </p:sp>
      <p:sp>
        <p:nvSpPr>
          <p:cNvPr id="13" name="dot-584">
            <a:extLst xmlns:a="http://schemas.openxmlformats.org/drawingml/2006/main">
              <a:ext uri="{FF2B5EF4-FFF2-40B4-BE49-F238E27FC236}">
                <a16:creationId xmlns:a16="http://schemas.microsoft.com/office/drawing/2014/main" id="{ECD95737-8BDC-4E4F-A3F1-CADF73CA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C8E"/>
          </a:solidFill>
          <a:ln xmlns:a="http://schemas.openxmlformats.org/drawingml/2006/main" w="0">
            <a:solidFill>
              <a:srgbClr val="FF7C8E"/>
            </a:solidFill>
            <a:prstDash val="solid"/>
          </a:ln>
        </p:spPr>
      </p:sp>
      <p:sp>
        <p:nvSpPr>
          <p:cNvPr id="14" name="bullet-head-584">
            <a:extLst xmlns:a="http://schemas.openxmlformats.org/drawingml/2006/main">
              <a:ext uri="{FF2B5EF4-FFF2-40B4-BE49-F238E27FC236}">
                <a16:creationId xmlns:a16="http://schemas.microsoft.com/office/drawing/2014/main" id="{4D41F7B6-5643-413A-A01F-F0770A5F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Clear intent</a:t>
            </a:r>
          </a:p>
        </p:txBody>
      </p:sp>
      <p:sp>
        <p:nvSpPr>
          <p:cNvPr id="15" name="bullet-body-584">
            <a:extLst xmlns:a="http://schemas.openxmlformats.org/drawingml/2006/main">
              <a:ext uri="{FF2B5EF4-FFF2-40B4-BE49-F238E27FC236}">
                <a16:creationId xmlns:a16="http://schemas.microsoft.com/office/drawing/2014/main" id="{56782B3D-C63B-4167-9E3D-927B3013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4550"/>
            <a:ext cx="433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C"/>
                </a:solidFill>
              </a:defRPr>
            </a:pPr>
            <a:r>
              <a:rPr sz="1350">
                <a:solidFill>
                  <a:srgbClr val="B8C7DC"/>
                </a:solidFill>
              </a:rPr>
              <a:t>The agent receives the objective and deterministic acceptance checks.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70ab20df94ab4"/>
          <a:srcRect xmlns:a="http://schemas.openxmlformats.org/drawingml/2006/main" l="14353" t="0" r="143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733550"/>
            <a:ext cx="5191125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</p:spTree>
    <p:extLst>
      <p:ext uri="{BB962C8B-B14F-4D97-AF65-F5344CB8AC3E}">
        <p14:creationId xmlns:p14="http://schemas.microsoft.com/office/powerpoint/2010/main" val="1460596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13F5FAAF-BF68-427D-BF5A-92CD645F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E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F12F299-7140-4985-824F-C8D8343B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D6A3"/>
                </a:solidFill>
              </a:defRPr>
            </a:pPr>
            <a:r>
              <a:rPr sz="1275" b="1">
                <a:solidFill>
                  <a:srgbClr val="24D6A3"/>
                </a:solidFill>
              </a:rPr>
              <a:t>PROOF, NOT PROMISES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3608A145-D8D7-4065-990C-695BC1E3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690B6"/>
                </a:solidFill>
              </a:defRPr>
            </a:pPr>
            <a:r>
              <a:rPr sz="1350" b="1">
                <a:solidFill>
                  <a:srgbClr val="7690B6"/>
                </a:solidFill>
              </a:rPr>
              <a:t>05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2D095C3-59B7-4B7E-BA38-8972D5F1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90B6"/>
                </a:solidFill>
              </a:defRPr>
            </a:pPr>
            <a:r>
              <a:rPr sz="900" b="1">
                <a:solidFill>
                  <a:srgbClr val="7690B6"/>
                </a:solidFill>
              </a:rPr>
              <a:t>MERGEGATE  •  PROOF-CARRYING AUTONOMY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D0D582-11F6-4C12-99B7-ED55EB0E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7FAFF"/>
                </a:solidFill>
              </a:defRPr>
            </a:pPr>
            <a:r>
              <a:rPr sz="2925" b="1">
                <a:solidFill>
                  <a:srgbClr val="F7FAFF"/>
                </a:solidFill>
              </a:rPr>
              <a:t>The validator produces evidence—not optimism.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47A51A4-0008-450B-A3D1-3B0F06C2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C"/>
                </a:solidFill>
              </a:defRPr>
            </a:pPr>
            <a:r>
              <a:rPr sz="1800">
                <a:solidFill>
                  <a:srgbClr val="B8C7DC"/>
                </a:solidFill>
              </a:rPr>
              <a:t>MergeGate records baseline and result outcomes, acceptance hashes, command output, and a downloadable evidence bundle.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3a9c2587c4fb2"/>
          <a:srcRect xmlns:a="http://schemas.openxmlformats.org/drawingml/2006/main" l="0" t="4921" r="0" b="49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647950"/>
            <a:ext cx="6667500" cy="3381375"/>
          </a:xfrm>
          <a:prstGeom xmlns:a="http://schemas.openxmlformats.org/drawingml/2006/main" prst="roundRect">
            <a:avLst>
              <a:gd name="adj" fmla="val 4507"/>
            </a:avLst>
          </a:prstGeom>
        </p:spPr>
      </p:pic>
      <p:sp>
        <p:nvSpPr>
          <p:cNvPr id="8" name="proof-surface">
            <a:extLst xmlns:a="http://schemas.openxmlformats.org/drawingml/2006/main">
              <a:ext uri="{FF2B5EF4-FFF2-40B4-BE49-F238E27FC236}">
                <a16:creationId xmlns:a16="http://schemas.microsoft.com/office/drawing/2014/main" id="{D6269D30-8EAA-444A-A0CA-379A174D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33337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19050">
            <a:solidFill>
              <a:srgbClr val="20395D"/>
            </a:solidFill>
            <a:prstDash val="solid"/>
          </a:ln>
        </p:spPr>
      </p:sp>
      <p:sp>
        <p:nvSpPr>
          <p:cNvPr id="9" name="proof-kicker">
            <a:extLst xmlns:a="http://schemas.openxmlformats.org/drawingml/2006/main">
              <a:ext uri="{FF2B5EF4-FFF2-40B4-BE49-F238E27FC236}">
                <a16:creationId xmlns:a16="http://schemas.microsoft.com/office/drawing/2014/main" id="{D713594E-7FDE-4DD0-BEE9-38E3A6BB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90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D6A3"/>
                </a:solidFill>
              </a:defRPr>
            </a:pPr>
            <a:r>
              <a:rPr sz="1125" b="1">
                <a:solidFill>
                  <a:srgbClr val="24D6A3"/>
                </a:solidFill>
              </a:rPr>
              <a:t>WHAT A REVIEWER GETS</a:t>
            </a:r>
          </a:p>
        </p:txBody>
      </p:sp>
      <p:sp>
        <p:nvSpPr>
          <p:cNvPr id="10" name="proof-items">
            <a:extLst xmlns:a="http://schemas.openxmlformats.org/drawingml/2006/main">
              <a:ext uri="{FF2B5EF4-FFF2-40B4-BE49-F238E27FC236}">
                <a16:creationId xmlns:a16="http://schemas.microsoft.com/office/drawing/2014/main" id="{E9294C73-4181-48A1-9DE9-C5939C6B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67125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7FAFF"/>
                </a:solidFill>
              </a:defRPr>
            </a:pPr>
            <a:r>
              <a:rPr sz="1725" b="1">
                <a:solidFill>
                  <a:srgbClr val="F7FAFF"/>
                </a:solidFill>
              </a:rPr>
              <a:t>• Frozen criteria</a:t>
            </a:r>
          </a:p>
          <a:p xmlns:a="http://schemas.openxmlformats.org/drawingml/2006/main">
            <a:pPr>
              <a:defRPr sz="1725" b="1">
                <a:solidFill>
                  <a:srgbClr val="F7FAFF"/>
                </a:solidFill>
              </a:defRPr>
            </a:pPr>
            <a:r>
              <a:rPr sz="1725" b="1">
                <a:solidFill>
                  <a:srgbClr val="F7FAFF"/>
                </a:solidFill>
              </a:rPr>
              <a:t>• Red/green proof</a:t>
            </a:r>
          </a:p>
          <a:p xmlns:a="http://schemas.openxmlformats.org/drawingml/2006/main">
            <a:pPr>
              <a:defRPr sz="1725" b="1">
                <a:solidFill>
                  <a:srgbClr val="F7FAFF"/>
                </a:solidFill>
              </a:defRPr>
            </a:pPr>
            <a:r>
              <a:rPr sz="1725" b="1">
                <a:solidFill>
                  <a:srgbClr val="F7FAFF"/>
                </a:solidFill>
              </a:rPr>
              <a:t>• Commands &amp; exit codes</a:t>
            </a:r>
          </a:p>
          <a:p xmlns:a="http://schemas.openxmlformats.org/drawingml/2006/main">
            <a:pPr>
              <a:defRPr sz="1725" b="1">
                <a:solidFill>
                  <a:srgbClr val="F7FAFF"/>
                </a:solidFill>
              </a:defRPr>
            </a:pPr>
            <a:r>
              <a:rPr sz="1725" b="1">
                <a:solidFill>
                  <a:srgbClr val="F7FAFF"/>
                </a:solidFill>
              </a:rPr>
              <a:t>• Acceptance hash</a:t>
            </a:r>
          </a:p>
          <a:p xmlns:a="http://schemas.openxmlformats.org/drawingml/2006/main">
            <a:pPr>
              <a:defRPr sz="1725" b="1">
                <a:solidFill>
                  <a:srgbClr val="F7FAFF"/>
                </a:solidFill>
              </a:defRPr>
            </a:pPr>
            <a:r>
              <a:rPr sz="1725" b="1">
                <a:solidFill>
                  <a:srgbClr val="F7FAFF"/>
                </a:solidFill>
              </a:rPr>
              <a:t>• Replayable verdict</a:t>
            </a:r>
          </a:p>
        </p:txBody>
      </p:sp>
    </p:spTree>
    <p:extLst>
      <p:ext uri="{BB962C8B-B14F-4D97-AF65-F5344CB8AC3E}">
        <p14:creationId xmlns:p14="http://schemas.microsoft.com/office/powerpoint/2010/main" val="1239299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E5397A9E-678F-45BE-AE66-D4670C94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E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D11BE85-B803-42F9-8698-856435DC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D6A3"/>
                </a:solidFill>
              </a:defRPr>
            </a:pPr>
            <a:r>
              <a:rPr sz="1275" b="1">
                <a:solidFill>
                  <a:srgbClr val="24D6A3"/>
                </a:solidFill>
              </a:rPr>
              <a:t>SAFE AUTONOMY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BECF5E86-F511-4697-AD54-40811352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690B6"/>
                </a:solidFill>
              </a:defRPr>
            </a:pPr>
            <a:r>
              <a:rPr sz="1350" b="1">
                <a:solidFill>
                  <a:srgbClr val="7690B6"/>
                </a:solidFill>
              </a:rPr>
              <a:t>06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BBAB8E1-3044-4BBA-BA51-E7E7D35B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90B6"/>
                </a:solidFill>
              </a:defRPr>
            </a:pPr>
            <a:r>
              <a:rPr sz="900" b="1">
                <a:solidFill>
                  <a:srgbClr val="7690B6"/>
                </a:solidFill>
              </a:rPr>
              <a:t>MERGEGATE  •  PROOF-CARRYING AUTONOMY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66F198-6400-4E1E-A168-D53730DB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AFF"/>
                </a:solidFill>
              </a:defRPr>
            </a:pPr>
            <a:r>
              <a:rPr sz="2775" b="1">
                <a:solidFill>
                  <a:srgbClr val="F7FAFF"/>
                </a:solidFill>
              </a:rPr>
              <a:t>Failures become structured feedback, not hidden loops.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16254CA-F75A-4C37-9B33-32124E6E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C"/>
                </a:solidFill>
              </a:defRPr>
            </a:pPr>
            <a:r>
              <a:rPr sz="1800">
                <a:solidFill>
                  <a:srgbClr val="B8C7DC"/>
                </a:solidFill>
              </a:rPr>
              <a:t>A failed criterion becomes the next attempt’s concrete input. Repeated non-progress or invalid proof ends safely.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c93b72e6743b9"/>
          <a:srcRect xmlns:a="http://schemas.openxmlformats.org/drawingml/2006/main" l="0" t="4921" r="0" b="49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628900"/>
            <a:ext cx="6667500" cy="3381375"/>
          </a:xfrm>
          <a:prstGeom xmlns:a="http://schemas.openxmlformats.org/drawingml/2006/main" prst="roundRect">
            <a:avLst>
              <a:gd name="adj" fmla="val 4507"/>
            </a:avLst>
          </a:prstGeom>
        </p:spPr>
      </p:pic>
      <p:sp>
        <p:nvSpPr>
          <p:cNvPr id="8" name="outcomes">
            <a:extLst xmlns:a="http://schemas.openxmlformats.org/drawingml/2006/main">
              <a:ext uri="{FF2B5EF4-FFF2-40B4-BE49-F238E27FC236}">
                <a16:creationId xmlns:a16="http://schemas.microsoft.com/office/drawing/2014/main" id="{C87BA96E-DBE6-428B-9F90-CC7D2CD0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AFF"/>
                </a:solidFill>
              </a:defRPr>
            </a:pPr>
            <a:r>
              <a:rPr sz="2100" b="1">
                <a:solidFill>
                  <a:srgbClr val="F7FAFF"/>
                </a:solidFill>
              </a:rPr>
              <a:t>Bounded by</a:t>
            </a:r>
          </a:p>
          <a:p xmlns:a="http://schemas.openxmlformats.org/drawingml/2006/main">
            <a:pPr>
              <a:defRPr sz="2100" b="1">
                <a:solidFill>
                  <a:srgbClr val="F7FAFF"/>
                </a:solidFill>
              </a:defRPr>
            </a:pPr>
            <a:r>
              <a:rPr sz="2100" b="1">
                <a:solidFill>
                  <a:srgbClr val="F7FAFF"/>
                </a:solidFill>
              </a:rPr>
              <a:t>• attempts</a:t>
            </a:r>
          </a:p>
          <a:p xmlns:a="http://schemas.openxmlformats.org/drawingml/2006/main">
            <a:pPr>
              <a:defRPr sz="2100" b="1">
                <a:solidFill>
                  <a:srgbClr val="F7FAFF"/>
                </a:solidFill>
              </a:defRPr>
            </a:pPr>
            <a:r>
              <a:rPr sz="2100" b="1">
                <a:solidFill>
                  <a:srgbClr val="F7FAFF"/>
                </a:solidFill>
              </a:rPr>
              <a:t>• wall clock</a:t>
            </a:r>
          </a:p>
          <a:p xmlns:a="http://schemas.openxmlformats.org/drawingml/2006/main">
            <a:pPr>
              <a:defRPr sz="2100" b="1">
                <a:solidFill>
                  <a:srgbClr val="F7FAFF"/>
                </a:solidFill>
              </a:defRPr>
            </a:pPr>
            <a:r>
              <a:rPr sz="2100" b="1">
                <a:solidFill>
                  <a:srgbClr val="F7FAFF"/>
                </a:solidFill>
              </a:rPr>
              <a:t>• model calls</a:t>
            </a:r>
          </a:p>
        </p:txBody>
      </p:sp>
      <p:sp>
        <p:nvSpPr>
          <p:cNvPr id="9" name="safe-line">
            <a:extLst xmlns:a="http://schemas.openxmlformats.org/drawingml/2006/main">
              <a:ext uri="{FF2B5EF4-FFF2-40B4-BE49-F238E27FC236}">
                <a16:creationId xmlns:a16="http://schemas.microsoft.com/office/drawing/2014/main" id="{0ADCE91E-5751-4D6A-BEFF-60378704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afe-stop">
            <a:extLst xmlns:a="http://schemas.openxmlformats.org/drawingml/2006/main">
              <a:ext uri="{FF2B5EF4-FFF2-40B4-BE49-F238E27FC236}">
                <a16:creationId xmlns:a16="http://schemas.microsoft.com/office/drawing/2014/main" id="{E9D8E162-2415-41EA-83E6-202EA12A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00625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8C7DC"/>
                </a:solidFill>
              </a:defRPr>
            </a:pPr>
            <a:r>
              <a:rPr sz="1650">
                <a:solidFill>
                  <a:srgbClr val="B8C7DC"/>
                </a:solidFill>
              </a:rPr>
              <a:t>NO_PROGRESS is an honest outcome—not a false success.</a:t>
            </a:r>
          </a:p>
        </p:txBody>
      </p:sp>
    </p:spTree>
    <p:extLst>
      <p:ext uri="{BB962C8B-B14F-4D97-AF65-F5344CB8AC3E}">
        <p14:creationId xmlns:p14="http://schemas.microsoft.com/office/powerpoint/2010/main" val="1978287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1D6C12B8-5FF7-430A-98A1-8B5013AF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E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37BB8BA-F18F-4F53-9F99-C56B96F0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D6A3"/>
                </a:solidFill>
              </a:defRPr>
            </a:pPr>
            <a:r>
              <a:rPr sz="1275" b="1">
                <a:solidFill>
                  <a:srgbClr val="24D6A3"/>
                </a:solidFill>
              </a:rPr>
              <a:t>LIVE PRODUCTION EXPERIENCE</a:t>
            </a:r>
          </a:p>
        </p:txBody>
      </p:sp>
      <p:sp>
        <p:nvSpPr>
          <p:cNvPr id="3" name="number">
            <a:extLst xmlns:a="http://schemas.openxmlformats.org/drawingml/2006/main">
              <a:ext uri="{FF2B5EF4-FFF2-40B4-BE49-F238E27FC236}">
                <a16:creationId xmlns:a16="http://schemas.microsoft.com/office/drawing/2014/main" id="{2E5D9EF6-0A6F-4404-88B6-EEE3811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0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690B6"/>
                </a:solidFill>
              </a:defRPr>
            </a:pPr>
            <a:r>
              <a:rPr sz="1350" b="1">
                <a:solidFill>
                  <a:srgbClr val="7690B6"/>
                </a:solidFill>
              </a:rPr>
              <a:t>07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D4F861D-FA07-457C-864C-EA621972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690B6"/>
                </a:solidFill>
              </a:defRPr>
            </a:pPr>
            <a:r>
              <a:rPr sz="900" b="1">
                <a:solidFill>
                  <a:srgbClr val="7690B6"/>
                </a:solidFill>
              </a:rPr>
              <a:t>MERGEGATE  •  PROOF-CARRYING AUTONOMY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1BE62FA-7E4B-4300-A377-BDCE7E40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The demo is now a live, user-owned workflow.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2CFE92E-B2B8-488D-83EE-75CAD56F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C"/>
                </a:solidFill>
              </a:defRPr>
            </a:pPr>
            <a:r>
              <a:rPr sz="1800">
                <a:solidFill>
                  <a:srgbClr val="B8C7DC"/>
                </a:solidFill>
              </a:rPr>
              <a:t>The deployed product adds GitHub sign-in, private repository attachment, encrypted provider connections, and live run telemetry.</a:t>
            </a:r>
          </a:p>
        </p:txBody>
      </p:sp>
      <p:sp>
        <p:nvSpPr>
          <p:cNvPr id="7" name="prod-accent-0">
            <a:extLst xmlns:a="http://schemas.openxmlformats.org/drawingml/2006/main">
              <a:ext uri="{FF2B5EF4-FFF2-40B4-BE49-F238E27FC236}">
                <a16:creationId xmlns:a16="http://schemas.microsoft.com/office/drawing/2014/main" id="{E70C0B10-7107-41D1-9642-60C3ECF8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d-title-0">
            <a:extLst xmlns:a="http://schemas.openxmlformats.org/drawingml/2006/main">
              <a:ext uri="{FF2B5EF4-FFF2-40B4-BE49-F238E27FC236}">
                <a16:creationId xmlns:a16="http://schemas.microsoft.com/office/drawing/2014/main" id="{FF6F8757-C8E8-4F42-84C2-D93143D1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AFF"/>
                </a:solidFill>
              </a:defRPr>
            </a:pPr>
            <a:r>
              <a:rPr sz="2025" b="1">
                <a:solidFill>
                  <a:srgbClr val="F7FAFF"/>
                </a:solidFill>
              </a:rPr>
              <a:t>GitHub OAuth</a:t>
            </a:r>
          </a:p>
        </p:txBody>
      </p:sp>
      <p:sp>
        <p:nvSpPr>
          <p:cNvPr id="9" name="prod-body-0">
            <a:extLst xmlns:a="http://schemas.openxmlformats.org/drawingml/2006/main">
              <a:ext uri="{FF2B5EF4-FFF2-40B4-BE49-F238E27FC236}">
                <a16:creationId xmlns:a16="http://schemas.microsoft.com/office/drawing/2014/main" id="{01F946E6-DDC6-4803-BB2E-17DB31B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8C7DC"/>
                </a:solidFill>
              </a:defRPr>
            </a:pPr>
            <a:r>
              <a:rPr sz="1425">
                <a:solidFill>
                  <a:srgbClr val="B8C7DC"/>
                </a:solidFill>
              </a:rPr>
              <a:t>Attach a repository owned by the signed-in user.</a:t>
            </a:r>
          </a:p>
        </p:txBody>
      </p:sp>
      <p:sp>
        <p:nvSpPr>
          <p:cNvPr id="10" name="prod-accent-1">
            <a:extLst xmlns:a="http://schemas.openxmlformats.org/drawingml/2006/main">
              <a:ext uri="{FF2B5EF4-FFF2-40B4-BE49-F238E27FC236}">
                <a16:creationId xmlns:a16="http://schemas.microsoft.com/office/drawing/2014/main" id="{E715F2BA-4D4C-4E57-85AF-C69A3512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d-title-1">
            <a:extLst xmlns:a="http://schemas.openxmlformats.org/drawingml/2006/main">
              <a:ext uri="{FF2B5EF4-FFF2-40B4-BE49-F238E27FC236}">
                <a16:creationId xmlns:a16="http://schemas.microsoft.com/office/drawing/2014/main" id="{AB19371E-0B4C-4352-B594-E535C88B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AFF"/>
                </a:solidFill>
              </a:defRPr>
            </a:pPr>
            <a:r>
              <a:rPr sz="2025" b="1">
                <a:solidFill>
                  <a:srgbClr val="F7FAFF"/>
                </a:solidFill>
              </a:rPr>
              <a:t>User-owned credentials</a:t>
            </a:r>
          </a:p>
        </p:txBody>
      </p:sp>
      <p:sp>
        <p:nvSpPr>
          <p:cNvPr id="12" name="prod-body-1">
            <a:extLst xmlns:a="http://schemas.openxmlformats.org/drawingml/2006/main">
              <a:ext uri="{FF2B5EF4-FFF2-40B4-BE49-F238E27FC236}">
                <a16:creationId xmlns:a16="http://schemas.microsoft.com/office/drawing/2014/main" id="{B26BFA5E-DE29-488C-BBF6-BAB81810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8C7DC"/>
                </a:solidFill>
              </a:defRPr>
            </a:pPr>
            <a:r>
              <a:rPr sz="1425">
                <a:solidFill>
                  <a:srgbClr val="B8C7DC"/>
                </a:solidFill>
              </a:rPr>
              <a:t>Encrypted Gemini API keys or Claude Code OAuth tokens.</a:t>
            </a:r>
          </a:p>
        </p:txBody>
      </p:sp>
      <p:sp>
        <p:nvSpPr>
          <p:cNvPr id="13" name="prod-accent-2">
            <a:extLst xmlns:a="http://schemas.openxmlformats.org/drawingml/2006/main">
              <a:ext uri="{FF2B5EF4-FFF2-40B4-BE49-F238E27FC236}">
                <a16:creationId xmlns:a16="http://schemas.microsoft.com/office/drawing/2014/main" id="{1D4C4814-6B73-42D4-AEE6-14B24D2F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d-title-2">
            <a:extLst xmlns:a="http://schemas.openxmlformats.org/drawingml/2006/main">
              <a:ext uri="{FF2B5EF4-FFF2-40B4-BE49-F238E27FC236}">
                <a16:creationId xmlns:a16="http://schemas.microsoft.com/office/drawing/2014/main" id="{08D07C8E-BFA7-4BC7-BF3B-E1C5566E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AFF"/>
                </a:solidFill>
              </a:defRPr>
            </a:pPr>
            <a:r>
              <a:rPr sz="2025" b="1">
                <a:solidFill>
                  <a:srgbClr val="F7FAFF"/>
                </a:solidFill>
              </a:rPr>
              <a:t>Live operations</a:t>
            </a:r>
          </a:p>
        </p:txBody>
      </p:sp>
      <p:sp>
        <p:nvSpPr>
          <p:cNvPr id="15" name="prod-body-2">
            <a:extLst xmlns:a="http://schemas.openxmlformats.org/drawingml/2006/main">
              <a:ext uri="{FF2B5EF4-FFF2-40B4-BE49-F238E27FC236}">
                <a16:creationId xmlns:a16="http://schemas.microsoft.com/office/drawing/2014/main" id="{0D0F80F9-6B43-44EB-BF00-8F02610C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8C7DC"/>
                </a:solidFill>
              </a:defRPr>
            </a:pPr>
            <a:r>
              <a:rPr sz="1425">
                <a:solidFill>
                  <a:srgbClr val="B8C7DC"/>
                </a:solidFill>
              </a:rPr>
              <a:t>SSE stream, run console, cost receipts, evidence bundle.</a:t>
            </a:r>
          </a:p>
        </p:txBody>
      </p:sp>
      <p:sp>
        <p:nvSpPr>
          <p:cNvPr id="16" name="live-url-surface">
            <a:extLst xmlns:a="http://schemas.openxmlformats.org/drawingml/2006/main">
              <a:ext uri="{FF2B5EF4-FFF2-40B4-BE49-F238E27FC236}">
                <a16:creationId xmlns:a16="http://schemas.microsoft.com/office/drawing/2014/main" id="{E866F343-9A29-4F5B-B83D-5F299074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3857625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0213E"/>
          </a:solidFill>
          <a:ln xmlns:a="http://schemas.openxmlformats.org/drawingml/2006/main" w="19050">
            <a:solidFill>
              <a:srgbClr val="20395D"/>
            </a:solidFill>
            <a:prstDash val="solid"/>
          </a:ln>
        </p:spPr>
      </p:sp>
      <p:sp>
        <p:nvSpPr>
          <p:cNvPr id="17" name="live-url-kicker">
            <a:extLst xmlns:a="http://schemas.openxmlformats.org/drawingml/2006/main">
              <a:ext uri="{FF2B5EF4-FFF2-40B4-BE49-F238E27FC236}">
                <a16:creationId xmlns:a16="http://schemas.microsoft.com/office/drawing/2014/main" id="{CBA844F3-CECD-450B-945F-5E3B3C08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29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D6A3"/>
                </a:solidFill>
              </a:defRPr>
            </a:pPr>
            <a:r>
              <a:rPr sz="1125" b="1">
                <a:solidFill>
                  <a:srgbClr val="24D6A3"/>
                </a:solidFill>
              </a:rPr>
              <a:t>TRY THE LIVE CONTROL PLANE</a:t>
            </a:r>
          </a:p>
        </p:txBody>
      </p:sp>
      <p:sp>
        <p:nvSpPr>
          <p:cNvPr id="18" name="live-url">
            <a:extLst xmlns:a="http://schemas.openxmlformats.org/drawingml/2006/main">
              <a:ext uri="{FF2B5EF4-FFF2-40B4-BE49-F238E27FC236}">
                <a16:creationId xmlns:a16="http://schemas.microsoft.com/office/drawing/2014/main" id="{1F4FAA28-EB0E-4431-B3F7-E2FFE91D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243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F"/>
                </a:solidFill>
              </a:defRPr>
            </a:pPr>
            <a:r>
              <a:rPr sz="2175" b="1">
                <a:solidFill>
                  <a:srgbClr val="F7FAFF"/>
                </a:solidFill>
              </a:rPr>
              <a:t>merge-gate-beta.</a:t>
            </a:r>
          </a:p>
          <a:p xmlns:a="http://schemas.openxmlformats.org/drawingml/2006/main">
            <a:pPr>
              <a:defRPr sz="2175" b="1">
                <a:solidFill>
                  <a:srgbClr val="F7FAFF"/>
                </a:solidFill>
              </a:defRPr>
            </a:pPr>
            <a:r>
              <a:rPr sz="2175" b="1">
                <a:solidFill>
                  <a:srgbClr val="F7FAFF"/>
                </a:solidFill>
              </a:rPr>
              <a:t>vercel.app</a:t>
            </a:r>
          </a:p>
        </p:txBody>
      </p:sp>
    </p:spTree>
    <p:extLst>
      <p:ext uri="{BB962C8B-B14F-4D97-AF65-F5344CB8AC3E}">
        <p14:creationId xmlns:p14="http://schemas.microsoft.com/office/powerpoint/2010/main" val="2703342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31B8C264-157A-4129-910B-5355E15F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4BD269F-FE7B-4D31-9BB4-EA7521CD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D6A3"/>
                </a:solidFill>
              </a:defRPr>
            </a:pPr>
            <a:r>
              <a:rPr sz="1350" b="1">
                <a:solidFill>
                  <a:srgbClr val="24D6A3"/>
                </a:solidFill>
              </a:rPr>
              <a:t>WHAT JUDGES CAN VERIFY IN 90 SECONDS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D73C1C-D648-4EC8-899D-F03FEA8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95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7FAFF"/>
                </a:solidFill>
              </a:defRPr>
            </a:pPr>
            <a:r>
              <a:rPr sz="4275" b="1">
                <a:solidFill>
                  <a:srgbClr val="F7FAFF"/>
                </a:solidFill>
              </a:rPr>
              <a:t>Autonomy you can inspect</a:t>
            </a:r>
          </a:p>
          <a:p xmlns:a="http://schemas.openxmlformats.org/drawingml/2006/main">
            <a:pPr>
              <a:defRPr sz="4275" b="1">
                <a:solidFill>
                  <a:srgbClr val="F7FAFF"/>
                </a:solidFill>
              </a:defRPr>
            </a:pPr>
            <a:r>
              <a:rPr sz="4275" b="1">
                <a:solidFill>
                  <a:srgbClr val="F7FAFF"/>
                </a:solidFill>
              </a:rPr>
              <a:t>before you merge.</a:t>
            </a:r>
          </a:p>
        </p:txBody>
      </p:sp>
      <p:sp>
        <p:nvSpPr>
          <p:cNvPr id="4" name="close-copy">
            <a:extLst xmlns:a="http://schemas.openxmlformats.org/drawingml/2006/main">
              <a:ext uri="{FF2B5EF4-FFF2-40B4-BE49-F238E27FC236}">
                <a16:creationId xmlns:a16="http://schemas.microsoft.com/office/drawing/2014/main" id="{477E0332-CAC2-4AB7-969F-5322663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657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8C7DC"/>
                </a:solidFill>
              </a:defRPr>
            </a:pPr>
            <a:r>
              <a:rPr sz="1875">
                <a:solidFill>
                  <a:srgbClr val="B8C7DC"/>
                </a:solidFill>
              </a:rPr>
              <a:t>1. Define and approve the contract</a:t>
            </a:r>
          </a:p>
          <a:p xmlns:a="http://schemas.openxmlformats.org/drawingml/2006/main">
            <a:pPr>
              <a:defRPr sz="1875">
                <a:solidFill>
                  <a:srgbClr val="B8C7DC"/>
                </a:solidFill>
              </a:defRPr>
            </a:pPr>
            <a:r>
              <a:rPr sz="1875">
                <a:solidFill>
                  <a:srgbClr val="B8C7DC"/>
                </a:solidFill>
              </a:rPr>
              <a:t>2. Watch the agent act in an isolated worktree</a:t>
            </a:r>
          </a:p>
          <a:p xmlns:a="http://schemas.openxmlformats.org/drawingml/2006/main">
            <a:pPr>
              <a:defRPr sz="1875">
                <a:solidFill>
                  <a:srgbClr val="B8C7DC"/>
                </a:solidFill>
              </a:defRPr>
            </a:pPr>
            <a:r>
              <a:rPr sz="1875">
                <a:solidFill>
                  <a:srgbClr val="B8C7DC"/>
                </a:solidFill>
              </a:rPr>
              <a:t>3. Inspect deterministic proof and the human merge gate</a:t>
            </a:r>
          </a:p>
        </p:txBody>
      </p:sp>
      <p:sp>
        <p:nvSpPr>
          <p:cNvPr id="5" name="demo-surface">
            <a:extLst xmlns:a="http://schemas.openxmlformats.org/drawingml/2006/main">
              <a:ext uri="{FF2B5EF4-FFF2-40B4-BE49-F238E27FC236}">
                <a16:creationId xmlns:a16="http://schemas.microsoft.com/office/drawing/2014/main" id="{3E72DC3E-A211-4D36-A944-FC240D01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19050">
            <a:solidFill>
              <a:srgbClr val="20395D"/>
            </a:solidFill>
            <a:prstDash val="solid"/>
          </a:ln>
        </p:spPr>
      </p:sp>
      <p:sp>
        <p:nvSpPr>
          <p:cNvPr id="6" name="demo-label">
            <a:extLst xmlns:a="http://schemas.openxmlformats.org/drawingml/2006/main">
              <a:ext uri="{FF2B5EF4-FFF2-40B4-BE49-F238E27FC236}">
                <a16:creationId xmlns:a16="http://schemas.microsoft.com/office/drawing/2014/main" id="{232A70AC-AE5E-4477-BC3E-F95D8E37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47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D6A3"/>
                </a:solidFill>
              </a:defRPr>
            </a:pPr>
            <a:r>
              <a:rPr sz="1275" b="1">
                <a:solidFill>
                  <a:srgbClr val="24D6A3"/>
                </a:solidFill>
              </a:rPr>
              <a:t>LIVE DEMO</a:t>
            </a:r>
          </a:p>
        </p:txBody>
      </p:sp>
      <p:sp>
        <p:nvSpPr>
          <p:cNvPr id="7" name="demo-url">
            <a:extLst xmlns:a="http://schemas.openxmlformats.org/drawingml/2006/main">
              <a:ext uri="{FF2B5EF4-FFF2-40B4-BE49-F238E27FC236}">
                <a16:creationId xmlns:a16="http://schemas.microsoft.com/office/drawing/2014/main" id="{34047B35-4463-42C1-83F7-6ABC36FC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527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merge-gate-beta.</a:t>
            </a:r>
          </a:p>
          <a:p xmlns:a="http://schemas.openxmlformats.org/drawingml/2006/main">
            <a:pPr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vercel.app</a:t>
            </a:r>
          </a:p>
        </p:txBody>
      </p:sp>
      <p:sp>
        <p:nvSpPr>
          <p:cNvPr id="8" name="repo-url">
            <a:extLst xmlns:a="http://schemas.openxmlformats.org/drawingml/2006/main">
              <a:ext uri="{FF2B5EF4-FFF2-40B4-BE49-F238E27FC236}">
                <a16:creationId xmlns:a16="http://schemas.microsoft.com/office/drawing/2014/main" id="{A4E7B646-CA28-44D3-8711-A8031643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14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7DC"/>
                </a:solidFill>
              </a:defRPr>
            </a:pPr>
            <a:r>
              <a:rPr sz="1125">
                <a:solidFill>
                  <a:srgbClr val="B8C7DC"/>
                </a:solidFill>
              </a:rPr>
              <a:t>github.com/mrsameer/merge-gate</a:t>
            </a:r>
          </a:p>
        </p:txBody>
      </p:sp>
      <p:sp>
        <p:nvSpPr>
          <p:cNvPr id="9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3BE08ADF-E5D6-4288-9FDF-9FFD34A2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F"/>
                </a:solidFill>
              </a:defRPr>
            </a:pPr>
            <a:r>
              <a:rPr sz="1875" b="1">
                <a:solidFill>
                  <a:srgbClr val="F7FAFF"/>
                </a:solidFill>
              </a:rPr>
              <a:t>An agent can propose. Evidence decides. Humans merge.</a:t>
            </a:r>
          </a:p>
        </p:txBody>
      </p:sp>
    </p:spTree>
    <p:extLst>
      <p:ext uri="{BB962C8B-B14F-4D97-AF65-F5344CB8AC3E}">
        <p14:creationId xmlns:p14="http://schemas.microsoft.com/office/powerpoint/2010/main" val="1675979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2026-07-25T04:51:44.4600000Z</dcterms:created>
  <dcterms:modified xsi:type="dcterms:W3CDTF">2026-07-25T04:51:44.4600000Z</dcterms:modified>
</coreProperties>
</file>